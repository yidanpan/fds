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39" r:id="rId2"/>
    <p:sldId id="322" r:id="rId3"/>
    <p:sldId id="340" r:id="rId4"/>
    <p:sldId id="341" r:id="rId5"/>
    <p:sldId id="342" r:id="rId6"/>
    <p:sldId id="343" r:id="rId7"/>
    <p:sldId id="344" r:id="rId8"/>
    <p:sldId id="345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79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termelon" initials="w" lastIdx="1" clrIdx="0"/>
  <p:cmAuthor id="2" name="panaj1509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C82"/>
    <a:srgbClr val="E0F1FB"/>
    <a:srgbClr val="FAEEB4"/>
    <a:srgbClr val="2E54A1"/>
    <a:srgbClr val="F8F0FD"/>
    <a:srgbClr val="C2ADD6"/>
    <a:srgbClr val="85A2CE"/>
    <a:srgbClr val="C2ACD8"/>
    <a:srgbClr val="F8F2FE"/>
    <a:srgbClr val="288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5625" autoAdjust="0"/>
  </p:normalViewPr>
  <p:slideViewPr>
    <p:cSldViewPr snapToGrid="0" showGuides="1">
      <p:cViewPr varScale="1">
        <p:scale>
          <a:sx n="110" d="100"/>
          <a:sy n="110" d="100"/>
        </p:scale>
        <p:origin x="570" y="108"/>
      </p:cViewPr>
      <p:guideLst>
        <p:guide orient="horz" pos="2175"/>
        <p:guide pos="379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2026/3/30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218" y="146982"/>
            <a:ext cx="8655953" cy="601075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28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137021" y="6494335"/>
            <a:ext cx="2743200" cy="341761"/>
          </a:xfrm>
          <a:prstGeom prst="rect">
            <a:avLst/>
          </a:prstGeom>
        </p:spPr>
        <p:txBody>
          <a:bodyPr/>
          <a:lstStyle>
            <a:lvl1pPr algn="r">
              <a:defRPr sz="1100" b="1" i="0">
                <a:solidFill>
                  <a:schemeClr val="accent1"/>
                </a:solidFill>
              </a:defRPr>
            </a:lvl1pPr>
          </a:lstStyle>
          <a:p>
            <a:fld id="{1AAC388E-FA9E-4A2C-95EA-1F6B3A07935A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76" name="直接连接符 75"/>
          <p:cNvCxnSpPr/>
          <p:nvPr userDrawn="1"/>
        </p:nvCxnSpPr>
        <p:spPr>
          <a:xfrm>
            <a:off x="696000" y="780672"/>
            <a:ext cx="10800000" cy="0"/>
          </a:xfrm>
          <a:prstGeom prst="line">
            <a:avLst/>
          </a:prstGeom>
          <a:ln w="38100">
            <a:solidFill>
              <a:srgbClr val="0442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 userDrawn="1"/>
        </p:nvSpPr>
        <p:spPr>
          <a:xfrm>
            <a:off x="304800" y="-5079"/>
            <a:ext cx="236855" cy="808165"/>
          </a:xfrm>
          <a:prstGeom prst="rect">
            <a:avLst/>
          </a:pr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D9424CE-3F30-FBDB-9F4D-03491E51DC45}"/>
              </a:ext>
            </a:extLst>
          </p:cNvPr>
          <p:cNvGrpSpPr/>
          <p:nvPr/>
        </p:nvGrpSpPr>
        <p:grpSpPr>
          <a:xfrm>
            <a:off x="558536" y="363680"/>
            <a:ext cx="5993949" cy="1232664"/>
            <a:chOff x="863738" y="2874516"/>
            <a:chExt cx="5993949" cy="1232664"/>
          </a:xfrm>
        </p:grpSpPr>
        <p:sp>
          <p:nvSpPr>
            <p:cNvPr id="14" name="图形"/>
            <p:cNvSpPr/>
            <p:nvPr>
              <p:custDataLst>
                <p:tags r:id="rId1"/>
              </p:custDataLst>
            </p:nvPr>
          </p:nvSpPr>
          <p:spPr>
            <a:xfrm>
              <a:off x="863738" y="2874516"/>
              <a:ext cx="5993949" cy="101566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6000" b="1" kern="0" dirty="0">
                  <a:solidFill>
                    <a:schemeClr val="tx1"/>
                  </a:solidFill>
                  <a:uFillTx/>
                  <a:latin typeface="思源黑体 CN Bold" charset="-122"/>
                  <a:ea typeface="思源黑体 CN Bold" charset="-122"/>
                  <a:cs typeface="+mn-ea"/>
                  <a:sym typeface="+mn-lt"/>
                </a:rPr>
                <a:t>Project</a:t>
              </a:r>
              <a:r>
                <a:rPr lang="zh-CN" altLang="en-US" sz="6000" b="1" kern="0">
                  <a:solidFill>
                    <a:schemeClr val="tx1"/>
                  </a:solidFill>
                  <a:uFillTx/>
                  <a:latin typeface="思源黑体 CN Bold" charset="-122"/>
                  <a:ea typeface="思源黑体 CN Bold" charset="-122"/>
                  <a:cs typeface="+mn-ea"/>
                  <a:sym typeface="+mn-lt"/>
                </a:rPr>
                <a:t>注意事项</a:t>
              </a:r>
              <a:endParaRPr lang="zh-CN" altLang="en-US" sz="6000" b="1" kern="0" dirty="0">
                <a:solidFill>
                  <a:schemeClr val="tx1"/>
                </a:solidFill>
                <a:uFillTx/>
                <a:latin typeface="思源黑体 CN Bold" charset="-122"/>
                <a:ea typeface="思源黑体 CN Bold" charset="-122"/>
                <a:cs typeface="+mn-ea"/>
                <a:sym typeface="+mn-lt"/>
              </a:endParaRPr>
            </a:p>
          </p:txBody>
        </p:sp>
        <p:grpSp>
          <p:nvGrpSpPr>
            <p:cNvPr id="34" name="图形"/>
            <p:cNvGrpSpPr/>
            <p:nvPr/>
          </p:nvGrpSpPr>
          <p:grpSpPr>
            <a:xfrm>
              <a:off x="988198" y="4024630"/>
              <a:ext cx="3364230" cy="82550"/>
              <a:chOff x="1259" y="6856"/>
              <a:chExt cx="5298" cy="130"/>
            </a:xfrm>
          </p:grpSpPr>
          <p:cxnSp>
            <p:nvCxnSpPr>
              <p:cNvPr id="27" name="图形"/>
              <p:cNvCxnSpPr/>
              <p:nvPr>
                <p:custDataLst>
                  <p:tags r:id="rId2"/>
                </p:custDataLst>
              </p:nvPr>
            </p:nvCxnSpPr>
            <p:spPr>
              <a:xfrm>
                <a:off x="1259" y="6916"/>
                <a:ext cx="5298" cy="0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图形"/>
              <p:cNvSpPr/>
              <p:nvPr>
                <p:custDataLst>
                  <p:tags r:id="rId3"/>
                </p:custDataLst>
              </p:nvPr>
            </p:nvSpPr>
            <p:spPr>
              <a:xfrm>
                <a:off x="1259" y="6856"/>
                <a:ext cx="1895" cy="130"/>
              </a:xfrm>
              <a:prstGeom prst="rect">
                <a:avLst/>
              </a:prstGeom>
              <a:solidFill>
                <a:srgbClr val="3B85C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思源黑体 CN Medium" charset="-122"/>
                  <a:ea typeface="思源黑体 CN Medium" charset="-122"/>
                  <a:cs typeface="思源黑体 CN Medium" charset="-122"/>
                </a:endParaRP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13059FD-87F5-9275-4D87-F0C199D47E2F}"/>
              </a:ext>
            </a:extLst>
          </p:cNvPr>
          <p:cNvSpPr txBox="1"/>
          <p:nvPr/>
        </p:nvSpPr>
        <p:spPr>
          <a:xfrm>
            <a:off x="558536" y="1768895"/>
            <a:ext cx="11573838" cy="2346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Project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基本信息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匿名信息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报告和代码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迟交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互评惩罚和申诉</a:t>
            </a:r>
            <a:endParaRPr lang="en-US" altLang="zh-CN" sz="20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rgbClr val="0070C0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如何写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project/</a:t>
            </a:r>
            <a:r>
              <a:rPr lang="zh-CN" altLang="en-US" sz="2000" dirty="0">
                <a:latin typeface="+mj-ea"/>
                <a:ea typeface="+mj-ea"/>
                <a:cs typeface="Times New Roman" panose="02020603050405020304" pitchFamily="18" charset="0"/>
              </a:rPr>
              <a:t>如何评</a:t>
            </a:r>
            <a:r>
              <a:rPr lang="en-US" altLang="zh-CN" sz="2000" dirty="0">
                <a:latin typeface="+mj-ea"/>
                <a:ea typeface="+mj-ea"/>
                <a:cs typeface="Times New Roman" panose="02020603050405020304" pitchFamily="18" charset="0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251224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8" name="标题 1"/>
          <p:cNvSpPr/>
          <p:nvPr>
            <p:custDataLst>
              <p:tags r:id="rId1"/>
            </p:custDataLst>
          </p:nvPr>
        </p:nvSpPr>
        <p:spPr>
          <a:xfrm>
            <a:off x="728978" y="133019"/>
            <a:ext cx="10794394" cy="628981"/>
          </a:xfrm>
          <a:prstGeom prst="rect">
            <a:avLst/>
          </a:prstGeom>
        </p:spPr>
        <p:txBody>
          <a:bodyPr vert="horz" lIns="0" tIns="46990" rIns="0" bIns="4699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方正粗雅宋简体" pitchFamily="2" charset="-122"/>
                <a:ea typeface="方正粗雅宋简体" pitchFamily="2" charset="-122"/>
                <a:cs typeface="+mj-cs"/>
              </a:defRPr>
            </a:lvl1pPr>
          </a:lstStyle>
          <a:p>
            <a:pPr algn="l"/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方正清刻本悦宋简体" panose="02000000000000000000" charset="-122"/>
                <a:sym typeface="+mn-ea"/>
              </a:rPr>
              <a:t>Project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方正清刻本悦宋简体" panose="02000000000000000000" charset="-122"/>
                <a:sym typeface="+mn-ea"/>
              </a:rPr>
              <a:t>基本信息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F4206D-EA97-45BA-AD35-2DEFE513E2AA}"/>
              </a:ext>
            </a:extLst>
          </p:cNvPr>
          <p:cNvSpPr txBox="1"/>
          <p:nvPr/>
        </p:nvSpPr>
        <p:spPr>
          <a:xfrm>
            <a:off x="491600" y="1046149"/>
            <a:ext cx="11031772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分值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本学期共有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模式总分是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模式总分是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对于每个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而言，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Grade=</a:t>
            </a:r>
            <a:r>
              <a:rPr lang="en-US" altLang="zh-CN" sz="1600" dirty="0">
                <a:highlight>
                  <a:srgbClr val="E0F1FB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 Grade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*50%+</a:t>
            </a:r>
            <a:r>
              <a:rPr lang="en-US" altLang="zh-CN" sz="1600" dirty="0">
                <a:highlight>
                  <a:srgbClr val="BFDC82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 Grade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*50%</a:t>
            </a: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题目和提交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题目在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题目集可以查看，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在两个题目集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BFDC82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互评部分</a:t>
            </a:r>
            <a:endParaRPr lang="en-US" altLang="zh-CN" sz="1600" dirty="0">
              <a:highlight>
                <a:srgbClr val="BFDC82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注意个人信息匿名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发布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后的第二周周一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报告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(PR)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题目集中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第二周周三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23:59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完成互评任务，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没有完成互拼会倒扣分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如果对别人给自己的评分有意见，在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第二周周五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23:59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提交申诉，助教会进行仲裁处理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highlight>
                  <a:srgbClr val="E0F1FB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zh-CN" altLang="en-US" sz="1600" dirty="0">
                <a:highlight>
                  <a:srgbClr val="E0F1FB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版本</a:t>
            </a:r>
            <a:endParaRPr lang="en-US" altLang="zh-CN" sz="1600" dirty="0">
              <a:highlight>
                <a:srgbClr val="E0F1FB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互评结束后，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(Final)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题目集开启，在此提交最终版本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E1BDD3-C92D-8917-908F-8433EFBD1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92" y="2880777"/>
            <a:ext cx="2292468" cy="77474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22675EC-508C-4A3A-A5B0-91702076F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179" y="2723002"/>
            <a:ext cx="2006703" cy="224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33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CEB7-BF62-2318-5F3A-4CFA4274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9B931A-9933-EDFE-3FA1-3F089854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810C029-77E3-30AA-D085-11E205A362C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8978" y="133019"/>
            <a:ext cx="10794394" cy="628981"/>
          </a:xfrm>
          <a:prstGeom prst="rect">
            <a:avLst/>
          </a:prstGeom>
        </p:spPr>
        <p:txBody>
          <a:bodyPr vert="horz" lIns="0" tIns="46990" rIns="0" bIns="4699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方正粗雅宋简体" pitchFamily="2" charset="-122"/>
                <a:ea typeface="方正粗雅宋简体" pitchFamily="2" charset="-122"/>
                <a:cs typeface="+mj-cs"/>
              </a:defRPr>
            </a:lvl1pPr>
          </a:lstStyle>
          <a:p>
            <a:pPr algn="l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方正清刻本悦宋简体" panose="02000000000000000000" charset="-122"/>
                <a:sym typeface="+mn-ea"/>
              </a:rPr>
              <a:t>匿名信息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95397A-5852-C88E-7666-39D7C1F95AB8}"/>
              </a:ext>
            </a:extLst>
          </p:cNvPr>
          <p:cNvSpPr txBox="1"/>
          <p:nvPr/>
        </p:nvSpPr>
        <p:spPr>
          <a:xfrm>
            <a:off x="491600" y="1046149"/>
            <a:ext cx="11031772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匿名是最重要的部分。在互评阶段，如果发现有信息泄露，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请勾选评语中的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违规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选项。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不可以出现：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姓名、缩写、学号、昵称等等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还需要检查：打开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点击左上角的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】-&gt;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点击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属性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】-&gt;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作者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这一栏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解决办法：属性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详细信息中存在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删除属性和个人信息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选项，其中可以一键删除个人信息；此外，也可通过在其他主机上打开报告，检查是否匿名成功。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B7980A-53E0-6C2B-9FF6-07BD91C1CA33}"/>
              </a:ext>
            </a:extLst>
          </p:cNvPr>
          <p:cNvGrpSpPr/>
          <p:nvPr/>
        </p:nvGrpSpPr>
        <p:grpSpPr>
          <a:xfrm>
            <a:off x="577326" y="3313676"/>
            <a:ext cx="7000315" cy="3081324"/>
            <a:chOff x="1246854" y="2396067"/>
            <a:chExt cx="7068869" cy="31115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BB2B1F2-DB2D-3798-B867-414E7665E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6854" y="2396067"/>
              <a:ext cx="3912299" cy="31115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7EC55C0-86F3-A07D-4D5F-D3E7C4B90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51692"/>
            <a:stretch/>
          </p:blipFill>
          <p:spPr>
            <a:xfrm>
              <a:off x="5280355" y="2396067"/>
              <a:ext cx="3035368" cy="3111500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E3CC197-FCFE-00BD-EAE4-32C2509948EA}"/>
                </a:ext>
              </a:extLst>
            </p:cNvPr>
            <p:cNvSpPr/>
            <p:nvPr/>
          </p:nvSpPr>
          <p:spPr>
            <a:xfrm>
              <a:off x="1502833" y="4999567"/>
              <a:ext cx="613834" cy="237066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3E2AFCA-A5ED-CBF4-2CE3-4C54229240AE}"/>
                </a:ext>
              </a:extLst>
            </p:cNvPr>
            <p:cNvSpPr/>
            <p:nvPr/>
          </p:nvSpPr>
          <p:spPr>
            <a:xfrm>
              <a:off x="6033415" y="3543738"/>
              <a:ext cx="613834" cy="237066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F443E70-C7F4-BB5C-BEB6-1DCB0CE81DF2}"/>
              </a:ext>
            </a:extLst>
          </p:cNvPr>
          <p:cNvGrpSpPr/>
          <p:nvPr/>
        </p:nvGrpSpPr>
        <p:grpSpPr>
          <a:xfrm>
            <a:off x="8245746" y="2995827"/>
            <a:ext cx="2931843" cy="3729154"/>
            <a:chOff x="8288608" y="2765181"/>
            <a:chExt cx="2931843" cy="3729154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13F7B40E-2046-D9D0-46AD-249F71C3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88608" y="2765181"/>
              <a:ext cx="2931843" cy="3729154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C236E5D-1DC9-81F8-9CE4-88EA7D6AEFE3}"/>
                </a:ext>
              </a:extLst>
            </p:cNvPr>
            <p:cNvSpPr/>
            <p:nvPr/>
          </p:nvSpPr>
          <p:spPr>
            <a:xfrm>
              <a:off x="8374631" y="5929587"/>
              <a:ext cx="754723" cy="234767"/>
            </a:xfrm>
            <a:prstGeom prst="rect">
              <a:avLst/>
            </a:prstGeom>
            <a:noFill/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414385D-4A8A-6F56-6FB6-BA928EC1AE7B}"/>
              </a:ext>
            </a:extLst>
          </p:cNvPr>
          <p:cNvCxnSpPr>
            <a:cxnSpLocks/>
          </p:cNvCxnSpPr>
          <p:nvPr/>
        </p:nvCxnSpPr>
        <p:spPr>
          <a:xfrm>
            <a:off x="7724776" y="4793120"/>
            <a:ext cx="428625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57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41853-69F2-44F9-D704-1767CEB0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9F98BE8-A7A1-C4E0-710E-F78799089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C87B319-2899-AD8F-3272-29F85B95B7E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8978" y="133019"/>
            <a:ext cx="10794394" cy="628981"/>
          </a:xfrm>
          <a:prstGeom prst="rect">
            <a:avLst/>
          </a:prstGeom>
        </p:spPr>
        <p:txBody>
          <a:bodyPr vert="horz" lIns="0" tIns="46990" rIns="0" bIns="4699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方正粗雅宋简体" pitchFamily="2" charset="-122"/>
                <a:ea typeface="方正粗雅宋简体" pitchFamily="2" charset="-122"/>
                <a:cs typeface="+mj-cs"/>
              </a:defRPr>
            </a:lvl1pPr>
          </a:lstStyle>
          <a:p>
            <a:pPr algn="l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报告和代码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2ED7C3-4E9C-3C0F-04EB-38700A84BE6E}"/>
              </a:ext>
            </a:extLst>
          </p:cNvPr>
          <p:cNvSpPr txBox="1"/>
          <p:nvPr/>
        </p:nvSpPr>
        <p:spPr>
          <a:xfrm>
            <a:off x="491599" y="863264"/>
            <a:ext cx="10620538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代码部分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代码注释要求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用英文且注释大于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Project</a:t>
            </a:r>
            <a:r>
              <a:rPr lang="zh-CN" altLang="en-US" sz="1600" dirty="0"/>
              <a:t>可以用</a:t>
            </a:r>
            <a:r>
              <a:rPr lang="en-US" altLang="zh-CN" sz="1600" dirty="0"/>
              <a:t>C/C++</a:t>
            </a:r>
            <a:r>
              <a:rPr lang="zh-CN" altLang="en-US" sz="1600" dirty="0"/>
              <a:t>实现，不禁用</a:t>
            </a:r>
            <a:r>
              <a:rPr lang="en-US" altLang="zh-CN" sz="1600" dirty="0"/>
              <a:t>STL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如果用了库函数，需要在报告第二章写清楚所用库函数的原理、细节、复杂度分析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报告格式和要求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详见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【project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报告要求用全英文书写，注意要有封面页，代码最好用伪代码呈现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封面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的定义是：题目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日期等内容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单独一页。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若未单独一页不能算作封面，按照第一部分的扣分项扣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若使用中文完成，按照第三部分的扣分项扣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互评部分提交的报告要匿名！！！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部分提交的报告不需要匿名；此外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的提交物对于命名均不做规定，只要遵循匿名规范即可。</a:t>
            </a:r>
            <a:endParaRPr lang="en-US" altLang="zh-CN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提交格式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分为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两个文件夹提交，不按照格式按照第三部分的扣分项扣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注意：以附件形式上传，答题栏正文中不需要填写内容。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B810EDE-127B-318F-7F75-413FB92D1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373" y="5321622"/>
            <a:ext cx="3672848" cy="119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5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CD88-9154-82DF-1247-06A95278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9A9725-17B6-1F36-7921-2256F203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87A4FB72-8573-399D-6CA7-94DD26D2E20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8978" y="133019"/>
            <a:ext cx="10794394" cy="628981"/>
          </a:xfrm>
          <a:prstGeom prst="rect">
            <a:avLst/>
          </a:prstGeom>
        </p:spPr>
        <p:txBody>
          <a:bodyPr vert="horz" lIns="0" tIns="46990" rIns="0" bIns="4699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方正粗雅宋简体" pitchFamily="2" charset="-122"/>
                <a:ea typeface="方正粗雅宋简体" pitchFamily="2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迟交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互评惩罚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ADD777E-E0EA-4B0D-31FB-D8FFD868B64E}"/>
              </a:ext>
            </a:extLst>
          </p:cNvPr>
          <p:cNvSpPr txBox="1"/>
          <p:nvPr/>
        </p:nvSpPr>
        <p:spPr>
          <a:xfrm>
            <a:off x="491599" y="1046149"/>
            <a:ext cx="10986025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迟交惩罚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互评部分，如果没有提交直接按照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分计算，由于分组流程严格，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错过提交时间将无法补交任何材料！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部分，在截止日期第二天的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0:01am-11:59am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内提交，会被扣掉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5%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分数。</a:t>
            </a:r>
            <a:r>
              <a:rPr lang="zh-CN" altLang="en-US" sz="1600" dirty="0"/>
              <a:t>超过截止日期后，每迟交一天将再扣</a:t>
            </a:r>
            <a:r>
              <a:rPr lang="en-US" altLang="zh-CN" sz="1600" dirty="0"/>
              <a:t>10%</a:t>
            </a:r>
            <a:r>
              <a:rPr lang="zh-CN" altLang="en-US" sz="1600" dirty="0"/>
              <a:t>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迟交提交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直接通过钉钉渠道进行补交即可。请注意：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只要补交，什么时候都不算晚！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5EA45C-1AE1-DB1E-0F1B-2F8E2DED11CB}"/>
              </a:ext>
            </a:extLst>
          </p:cNvPr>
          <p:cNvSpPr txBox="1"/>
          <p:nvPr/>
        </p:nvSpPr>
        <p:spPr>
          <a:xfrm>
            <a:off x="491599" y="2968765"/>
            <a:ext cx="10986025" cy="1526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互评惩罚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未及时完成互评任务的同学，每少完成一项互评任务将在互评分上倒扣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恶意评分情况的同学（详见后面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如何评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project】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，将视情况严重程度对其互评分进行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仲裁惩罚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，具体惩罚分数由被恶意评分同学的分数和恶意评分之间的差距决定，请各位同学认真负责！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B63A4C-4B7D-9741-CF12-BDB3819F558F}"/>
              </a:ext>
            </a:extLst>
          </p:cNvPr>
          <p:cNvSpPr txBox="1"/>
          <p:nvPr/>
        </p:nvSpPr>
        <p:spPr>
          <a:xfrm>
            <a:off x="491598" y="4522049"/>
            <a:ext cx="10986025" cy="189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申诉</a:t>
            </a:r>
            <a:r>
              <a:rPr lang="en-US" altLang="zh-CN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仲裁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对于某些分差过大的作业，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将直接列入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待仲裁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的名单，该部分同学不需要提出申诉，助教将对所有待仲裁的作业进行审核。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如非情况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的作业但对评价结果存在异议，请同学们在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申诉反馈时间段内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提交申诉请求，请求中注明哪个评价有问题，问题是什么；助教进行仲裁后若仍存在异议可钉钉联系助教。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18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6EB41-E789-6699-E276-9D19A50A8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61E63A-DD3E-C0F3-14B7-1920D87E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4BBB94D-50FF-72C9-F3B7-B318ADFB4AF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8978" y="133019"/>
            <a:ext cx="10794394" cy="628981"/>
          </a:xfrm>
          <a:prstGeom prst="rect">
            <a:avLst/>
          </a:prstGeom>
        </p:spPr>
        <p:txBody>
          <a:bodyPr vert="horz" lIns="0" tIns="46990" rIns="0" bIns="4699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方正粗雅宋简体" pitchFamily="2" charset="-122"/>
                <a:ea typeface="方正粗雅宋简体" pitchFamily="2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如何写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project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D4A2C8-6C01-B49B-A52D-05CE27DFAB25}"/>
              </a:ext>
            </a:extLst>
          </p:cNvPr>
          <p:cNvSpPr txBox="1"/>
          <p:nvPr/>
        </p:nvSpPr>
        <p:spPr>
          <a:xfrm>
            <a:off x="236208" y="819632"/>
            <a:ext cx="6260386" cy="5588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报告部分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封面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单独作为一页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，注意匿名的前提下体现必要信息。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1: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说明好问题背景、问题内容，说明问题的本质（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be done and Why one is doing it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2: data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描述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算法描述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+main program sketch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描述，算法描述以伪代码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文字描述为最优；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program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能够有层次地描述清楚程序逻辑，有主体框架图更优。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3: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由于不同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的目标不同，因此需要注意具体问题具体分析，即使目标表格中包含了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cases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，也建议加一点文字说明哪些是在测试极限值；此外，建议给出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个以上的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，证明程序是可运行的（可以理解为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test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）。其余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特化的对比分析图等也建议放在这一部分。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4: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注意需要的是时间复杂度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和空间复杂度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的分析，不仅需要结果，还需要给出具体的分析流程。此外，鼓励对实验结果、实验本身进行分析。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6AAD47F-1724-0D8F-AF41-6828E06A0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703" y="4390277"/>
            <a:ext cx="3668759" cy="227493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84964C0-2D06-E356-3413-234EDE4FF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025" y="878415"/>
            <a:ext cx="4285992" cy="324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35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21825-A2A6-9E57-D198-AF128584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1751BD2-9778-A348-CB0B-69098D49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98452D9-A735-189F-627F-E2E68FDB75B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8978" y="133019"/>
            <a:ext cx="10794394" cy="628981"/>
          </a:xfrm>
          <a:prstGeom prst="rect">
            <a:avLst/>
          </a:prstGeom>
        </p:spPr>
        <p:txBody>
          <a:bodyPr vert="horz" lIns="0" tIns="46990" rIns="0" bIns="4699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方正粗雅宋简体" pitchFamily="2" charset="-122"/>
                <a:ea typeface="方正粗雅宋简体" pitchFamily="2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如何写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project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E31819C-202D-55E9-EDB5-2A5077EAF9AA}"/>
              </a:ext>
            </a:extLst>
          </p:cNvPr>
          <p:cNvSpPr txBox="1"/>
          <p:nvPr/>
        </p:nvSpPr>
        <p:spPr>
          <a:xfrm>
            <a:off x="236208" y="819632"/>
            <a:ext cx="11468112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代码部分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首先需要明确：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代码是给不了解你的程序的人运行的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，以此为基础来设计你的代码运行方式：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输入输出格式：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题目若没有明确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，则建议给出输入输出提示，避免运行后命令行一片空白或一堆数据堆积，含义不明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文件构成：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语言通过编译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链接进行构成，多文件架构时往往会出现链接错误等问题，因此建议提交物中仅包含一个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.c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文件，在单独编译后可立即执行（存在多文件需求也可以使用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.dev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工程文件来构建），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避免同学互评时错认为代码编译错误而扣分。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具体实现：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由于不同主机编译环境不同，文件路径不同，因此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不建议使用文件流完成输入输出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（即使使用相对路径）；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当涉及到多个算法调用时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，建议给出选项或直接运行所有算法，而不是需要评价人手动调整代码才能完成算法切换，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避免同学互评时错改代码而编译错误扣分。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注释：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注意注释（英文）的撰写，要求为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大于</a:t>
            </a:r>
            <a:r>
              <a:rPr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30%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，但也不宜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因此而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强行压行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降低可读性，注释的目的是增强可读性，不要本末倒置。</a:t>
            </a: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FC760E-E7C5-FDB8-0348-3A2517CBF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227" y="3877931"/>
            <a:ext cx="4413093" cy="251798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F02C180-4912-7A53-5D79-E5CE530FD980}"/>
              </a:ext>
            </a:extLst>
          </p:cNvPr>
          <p:cNvSpPr txBox="1"/>
          <p:nvPr/>
        </p:nvSpPr>
        <p:spPr>
          <a:xfrm>
            <a:off x="236208" y="5360687"/>
            <a:ext cx="6334492" cy="874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总而言之：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代码可读性越强，运行方式越简洁高效自动化，目的性越强，在代码部分受到互评扣分的可能越小！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50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9415-0456-9DEC-95E5-898F3F32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890037-0F53-F60A-80B4-E255241A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C388E-FA9E-4A2C-95EA-1F6B3A07935A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622DFF5-BE78-CC6B-81C2-BC7DBF98D14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8978" y="133019"/>
            <a:ext cx="10794394" cy="628981"/>
          </a:xfrm>
          <a:prstGeom prst="rect">
            <a:avLst/>
          </a:prstGeom>
        </p:spPr>
        <p:txBody>
          <a:bodyPr vert="horz" lIns="0" tIns="46990" rIns="0" bIns="46990" rtlCol="0" anchor="ctr" anchorCtr="0"/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8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方正粗雅宋简体" pitchFamily="2" charset="-122"/>
                <a:ea typeface="方正粗雅宋简体" pitchFamily="2" charset="-122"/>
                <a:cs typeface="+mj-cs"/>
              </a:defRPr>
            </a:lvl1pPr>
          </a:lstStyle>
          <a:p>
            <a:pPr algn="l"/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project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2BD9FA3-1A5C-F06B-7B72-ACDCE3A9941E}"/>
              </a:ext>
            </a:extLst>
          </p:cNvPr>
          <p:cNvSpPr txBox="1"/>
          <p:nvPr/>
        </p:nvSpPr>
        <p:spPr>
          <a:xfrm>
            <a:off x="236208" y="819632"/>
            <a:ext cx="6260386" cy="4111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评价格式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标明哪个部分不合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要求，扣多少分，扣分原因是什么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条理清晰，理由充分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即使完全没有问题，也要做评语说明。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如果不做评语或评语极为简短，将视作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恶意评分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评价尺度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将心比心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，如果这个评价下给出的分数自己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能够接受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，那么说明这个分数是合理的。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此外，可以参考仲裁后的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分数分布，来考虑大致的扣分尺度。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扣分尺度严重不合理的评价将视作</a:t>
            </a:r>
            <a:r>
              <a:rPr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恶意评分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E999DC-D262-5E88-B470-B22651F56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900" y="1340728"/>
            <a:ext cx="5195472" cy="123637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5E3E9BC-EE83-0195-926F-4CF2DCE1C12B}"/>
              </a:ext>
            </a:extLst>
          </p:cNvPr>
          <p:cNvSpPr txBox="1"/>
          <p:nvPr/>
        </p:nvSpPr>
        <p:spPr>
          <a:xfrm>
            <a:off x="6496594" y="3036265"/>
            <a:ext cx="5521235" cy="263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评价具体细则</a:t>
            </a:r>
            <a:endParaRPr lang="en-US" altLang="zh-CN" sz="1600" b="1" dirty="0">
              <a:solidFill>
                <a:srgbClr val="2E54A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主体参考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【project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要求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项目进行扣分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英文问题按照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进行扣分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缺少要求的分析图按照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3.1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进行扣分，缺少实验结果结合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3.1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4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进行扣分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提交物相关问题按照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3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进行扣分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其余内容按照要求适当扣分</a:t>
            </a:r>
            <a:endParaRPr lang="en-US" altLang="zh-C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19B3FF-841D-B062-C64C-8E325F0B41E0}"/>
              </a:ext>
            </a:extLst>
          </p:cNvPr>
          <p:cNvSpPr txBox="1"/>
          <p:nvPr/>
        </p:nvSpPr>
        <p:spPr>
          <a:xfrm>
            <a:off x="236207" y="5850767"/>
            <a:ext cx="11415862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温馨提示：即使存在恶意评分，也会通过申诉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仲裁渠道修复。请同学们把互评作为自己的作业认真完成。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69115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2YzNjBkOTgyNWQ1YTMxYzM3MzMwNWFiODNmOWIzYW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5473</TotalTime>
  <Words>1497</Words>
  <Application>Microsoft Office PowerPoint</Application>
  <PresentationFormat>宽屏</PresentationFormat>
  <Paragraphs>95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思源黑体 CN Bold</vt:lpstr>
      <vt:lpstr>思源黑体 CN Medium</vt:lpstr>
      <vt:lpstr>微软雅黑</vt:lpstr>
      <vt:lpstr>Arial</vt:lpstr>
      <vt:lpstr>Calibri</vt:lpstr>
      <vt:lpstr>Times New Roman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Che</dc:creator>
  <cp:lastModifiedBy>1445675246@qq.com</cp:lastModifiedBy>
  <cp:revision>891</cp:revision>
  <dcterms:created xsi:type="dcterms:W3CDTF">2019-06-19T02:08:00Z</dcterms:created>
  <dcterms:modified xsi:type="dcterms:W3CDTF">2026-03-30T02:40:42Z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E01D53C719F8414A827F578694B52127_13</vt:lpwstr>
  </property>
</Properties>
</file>